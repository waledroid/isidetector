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6850"/>
            <a:ext cx="1428750" cy="828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2552700"/>
            <a:ext cx="5905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00" b="1">
                <a:solidFill>
                  <a:srgbClr val="EEF1F4"/>
                </a:solidFill>
                <a:latin typeface="Arial"/>
              </a:rPr>
              <a:t>IsiDetector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76650"/>
            <a:ext cx="59055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B9BD8"/>
                </a:solidFill>
                <a:latin typeface="Arial"/>
              </a:rPr>
              <a:t>Automated Parcel Detection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1B9BD8"/>
                </a:solidFill>
                <a:latin typeface="Arial"/>
              </a:rPr>
              <a:t>&amp; Sorting Assistance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53000"/>
            <a:ext cx="4762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EF1F4"/>
                </a:solidFill>
                <a:latin typeface="Arial"/>
              </a:rPr>
              <a:t>ATANDA Abdullahi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219700"/>
            <a:ext cx="4762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8A2AC"/>
                </a:solidFill>
                <a:latin typeface="Consolas"/>
              </a:rPr>
              <a:t>COMPUTER VISION /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0" y="6267450"/>
            <a:ext cx="2933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8A2AC"/>
                </a:solidFill>
                <a:latin typeface="Consolas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91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B9BD8"/>
                </a:solidFill>
                <a:latin typeface="Consola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0" y="419100"/>
            <a:ext cx="2933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8A2AC"/>
                </a:solidFill>
                <a:latin typeface="Consolas"/>
              </a:rPr>
              <a:t>02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1027938"/>
            <a:ext cx="10858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dirty="0">
                <a:solidFill>
                  <a:srgbClr val="EEF1F4"/>
                </a:solidFill>
                <a:latin typeface="Arial"/>
              </a:rPr>
              <a:t>When the barcode can't be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13738"/>
            <a:ext cx="1047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9A825"/>
                </a:solidFill>
                <a:latin typeface="Consolas"/>
              </a:rPr>
              <a:t>~2%</a:t>
            </a:r>
            <a:r>
              <a:rPr sz="1400" b="0">
                <a:solidFill>
                  <a:srgbClr val="98A2AC"/>
                </a:solidFill>
                <a:latin typeface="Arial"/>
              </a:rPr>
              <a:t>   of parcels become difficult to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95016"/>
            <a:ext cx="5181600" cy="33147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ood_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804541"/>
            <a:ext cx="5162550" cy="2667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6300" y="5645432"/>
            <a:ext cx="533400" cy="204669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6300" y="5678572"/>
            <a:ext cx="533400" cy="157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D1013"/>
                </a:solidFill>
                <a:latin typeface="Consolas"/>
              </a:rPr>
              <a:t>GOOD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" y="5662829"/>
            <a:ext cx="4076700" cy="188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EF1F4"/>
                </a:solidFill>
                <a:latin typeface="Arial"/>
              </a:rPr>
              <a:t>Barcode clearly visible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795016"/>
            <a:ext cx="5191125" cy="33147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ifficult_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5" y="2804541"/>
            <a:ext cx="5172075" cy="2667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362700" y="5645432"/>
            <a:ext cx="962025" cy="204669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2700" y="5678572"/>
            <a:ext cx="962025" cy="157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D1013"/>
                </a:solidFill>
                <a:latin typeface="Consolas"/>
              </a:rPr>
              <a:t>DIFFICULT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8075" y="5662829"/>
            <a:ext cx="3657600" cy="188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EF1F4"/>
                </a:solidFill>
                <a:latin typeface="Arial"/>
              </a:rPr>
              <a:t>Folded · damaged · hidden · face-down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91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B9BD8"/>
                </a:solidFill>
                <a:latin typeface="Consola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0" y="419100"/>
            <a:ext cx="2933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8A2AC"/>
                </a:solidFill>
                <a:latin typeface="Consolas"/>
              </a:rPr>
              <a:t>03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81050"/>
            <a:ext cx="10858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>
                <a:solidFill>
                  <a:srgbClr val="EEF1F4"/>
                </a:solidFill>
                <a:latin typeface="Arial"/>
              </a:rPr>
              <a:t>A second pair of eyes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714500" y="2762250"/>
            <a:ext cx="1905000" cy="6096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14500" y="29718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EF1F4"/>
                </a:solidFill>
                <a:latin typeface="Consolas"/>
              </a:rPr>
              <a:t>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348615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98A2AC"/>
                </a:solidFill>
                <a:latin typeface="Arial"/>
              </a:rPr>
              <a:t>your existing IP camera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71900" y="2952750"/>
            <a:ext cx="800100" cy="228600"/>
          </a:xfrm>
          <a:prstGeom prst="rightArrow">
            <a:avLst/>
          </a:prstGeom>
          <a:solidFill>
            <a:srgbClr val="3A4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7250" y="2647950"/>
            <a:ext cx="2857500" cy="838200"/>
          </a:xfrm>
          <a:prstGeom prst="rect">
            <a:avLst/>
          </a:prstGeom>
          <a:solidFill>
            <a:srgbClr val="10222D"/>
          </a:solidFill>
          <a:ln w="25400">
            <a:solidFill>
              <a:srgbClr val="1B9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7250" y="28575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B9BD8"/>
                </a:solidFill>
                <a:latin typeface="Consolas"/>
              </a:rPr>
              <a:t>ISIDETECTOR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0" y="3124200"/>
            <a:ext cx="285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EEF1F4"/>
                </a:solidFill>
                <a:latin typeface="Arial"/>
              </a:rPr>
              <a:t>Detect · Track · Count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20000" y="2952750"/>
            <a:ext cx="800100" cy="228600"/>
          </a:xfrm>
          <a:prstGeom prst="rightArrow">
            <a:avLst/>
          </a:prstGeom>
          <a:solidFill>
            <a:srgbClr val="3A4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34250" y="3276600"/>
            <a:ext cx="1371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98A2AC"/>
                </a:solidFill>
                <a:latin typeface="Consolas"/>
              </a:rPr>
              <a:t>UDP / RELAY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2500" y="2762250"/>
            <a:ext cx="1905000" cy="6096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72500" y="29718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EF1F4"/>
                </a:solidFill>
                <a:latin typeface="Consolas"/>
              </a:rPr>
              <a:t>SORTER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348615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98A2AC"/>
                </a:solidFill>
                <a:latin typeface="Arial"/>
              </a:rPr>
              <a:t>your machine, in charge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962650"/>
            <a:ext cx="10820400" cy="9525"/>
          </a:xfrm>
          <a:prstGeom prst="rect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6153150"/>
            <a:ext cx="57150" cy="323850"/>
          </a:xfrm>
          <a:prstGeom prst="rect">
            <a:avLst/>
          </a:prstGeom>
          <a:solidFill>
            <a:srgbClr val="1B9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7250" y="6172200"/>
            <a:ext cx="3143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EF1F4"/>
                </a:solidFill>
                <a:latin typeface="Arial"/>
              </a:rPr>
              <a:t>Works alongside your existing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91025" y="6153150"/>
            <a:ext cx="57150" cy="323850"/>
          </a:xfrm>
          <a:prstGeom prst="rect">
            <a:avLst/>
          </a:prstGeom>
          <a:solidFill>
            <a:srgbClr val="1B9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62475" y="6172200"/>
            <a:ext cx="3143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EF1F4"/>
                </a:solidFill>
                <a:latin typeface="Arial"/>
              </a:rPr>
              <a:t>No change to the barcode chain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6250" y="6153150"/>
            <a:ext cx="57150" cy="323850"/>
          </a:xfrm>
          <a:prstGeom prst="rect">
            <a:avLst/>
          </a:prstGeom>
          <a:solidFill>
            <a:srgbClr val="1B9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7700" y="6172200"/>
            <a:ext cx="3143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EF1F4"/>
                </a:solidFill>
                <a:latin typeface="Arial"/>
              </a:rPr>
              <a:t>One clear signal per parcel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91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B9BD8"/>
                </a:solidFill>
                <a:latin typeface="Consolas"/>
              </a:rPr>
              <a:t>THE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0" y="419100"/>
            <a:ext cx="2933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8A2AC"/>
                </a:solidFill>
                <a:latin typeface="Consolas"/>
              </a:rPr>
              <a:t>04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81050"/>
            <a:ext cx="10858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>
                <a:solidFill>
                  <a:srgbClr val="EEF1F4"/>
                </a:solidFill>
                <a:latin typeface="Arial"/>
              </a:rPr>
              <a:t>Measured. Tested. Ready to demonstrate.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81150"/>
            <a:ext cx="5276850" cy="22098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6800" y="2038350"/>
            <a:ext cx="4572000" cy="8572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5700" b="1">
                <a:solidFill>
                  <a:srgbClr val="EEF1F4"/>
                </a:solidFill>
                <a:latin typeface="Consolas"/>
              </a:rPr>
              <a:t>&gt;95</a:t>
            </a:r>
            <a:r>
              <a:rPr sz="5700" b="1">
                <a:solidFill>
                  <a:srgbClr val="1B9BD8"/>
                </a:solidFill>
                <a:latin typeface="Consolas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02895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98A2AC"/>
                </a:solidFill>
                <a:latin typeface="Arial"/>
              </a:rPr>
              <a:t>Identification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9350" y="1581150"/>
            <a:ext cx="5276850" cy="22098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0350" y="2038350"/>
            <a:ext cx="4572000" cy="8572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5700" b="1">
                <a:solidFill>
                  <a:srgbClr val="EEF1F4"/>
                </a:solidFill>
                <a:latin typeface="Consolas"/>
              </a:rPr>
              <a:t>1</a:t>
            </a:r>
            <a:r>
              <a:rPr sz="5700" b="1">
                <a:solidFill>
                  <a:srgbClr val="1B9BD8"/>
                </a:solidFill>
                <a:latin typeface="Consolas"/>
              </a:rPr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02895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98A2AC"/>
                </a:solidFill>
                <a:latin typeface="Arial"/>
              </a:rPr>
              <a:t>One parcel → one event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057650"/>
            <a:ext cx="5276850" cy="22098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6800" y="4514850"/>
            <a:ext cx="4572000" cy="8572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5700" b="1">
                <a:solidFill>
                  <a:srgbClr val="EEF1F4"/>
                </a:solidFill>
                <a:latin typeface="Consolas"/>
              </a:rPr>
              <a:t>&lt;15</a:t>
            </a:r>
            <a:r>
              <a:rPr sz="3300" b="1">
                <a:solidFill>
                  <a:srgbClr val="1B9BD8"/>
                </a:solidFill>
                <a:latin typeface="Consolas"/>
              </a:rPr>
              <a:t>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550545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98A2AC"/>
                </a:solidFill>
                <a:latin typeface="Arial"/>
              </a:rPr>
              <a:t>p95 trigger 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9350" y="4057650"/>
            <a:ext cx="5276850" cy="22098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0350" y="4514850"/>
            <a:ext cx="4572000" cy="8572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5700" b="1">
                <a:solidFill>
                  <a:srgbClr val="EEF1F4"/>
                </a:solidFill>
                <a:latin typeface="Consolas"/>
              </a:rPr>
              <a:t>N</a:t>
            </a:r>
            <a:r>
              <a:rPr sz="3300" b="1">
                <a:solidFill>
                  <a:srgbClr val="1B9BD8"/>
                </a:solidFill>
                <a:latin typeface="Consolas"/>
              </a:rPr>
              <a:t>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350" y="550545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98A2AC"/>
                </a:solidFill>
                <a:latin typeface="Arial"/>
              </a:rPr>
              <a:t>Continuous operation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91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B9BD8"/>
                </a:solidFill>
                <a:latin typeface="Consolas"/>
              </a:rPr>
              <a:t>OPERATIONAL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0" y="419100"/>
            <a:ext cx="2933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98A2AC"/>
                </a:solidFill>
                <a:latin typeface="Consolas"/>
              </a:rPr>
              <a:t>05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81050"/>
            <a:ext cx="10858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>
                <a:solidFill>
                  <a:srgbClr val="EEF1F4"/>
                </a:solidFill>
                <a:latin typeface="Arial"/>
              </a:rPr>
              <a:t>Built for continuous operation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5450"/>
            <a:ext cx="2533650" cy="38100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95450"/>
            <a:ext cx="2533650" cy="38100"/>
          </a:xfrm>
          <a:prstGeom prst="rect">
            <a:avLst/>
          </a:prstGeom>
          <a:solidFill>
            <a:srgbClr val="1B9BD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3450" y="2019300"/>
            <a:ext cx="2038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EF1F4"/>
                </a:solidFill>
                <a:latin typeface="Consolas"/>
              </a:rPr>
              <a:t>SELF-DIAGNOSIS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2400300"/>
            <a:ext cx="20383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8A2AC"/>
                </a:solidFill>
                <a:latin typeface="Arial"/>
              </a:rPr>
              <a:t>Know when something goes wrong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8050" y="1695450"/>
            <a:ext cx="2533650" cy="38100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48050" y="1695450"/>
            <a:ext cx="2533650" cy="38100"/>
          </a:xfrm>
          <a:prstGeom prst="rect">
            <a:avLst/>
          </a:prstGeom>
          <a:solidFill>
            <a:srgbClr val="1B9BD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5700" y="2019300"/>
            <a:ext cx="2038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EF1F4"/>
                </a:solidFill>
                <a:latin typeface="Consolas"/>
              </a:rPr>
              <a:t>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5700" y="2400300"/>
            <a:ext cx="20383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8A2AC"/>
                </a:solidFill>
                <a:latin typeface="Arial"/>
              </a:rPr>
              <a:t>Every event is recorded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300" y="1695450"/>
            <a:ext cx="2533650" cy="38100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0300" y="1695450"/>
            <a:ext cx="2533650" cy="38100"/>
          </a:xfrm>
          <a:prstGeom prst="rect">
            <a:avLst/>
          </a:prstGeom>
          <a:solidFill>
            <a:srgbClr val="1B9BD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7950" y="2019300"/>
            <a:ext cx="2038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EF1F4"/>
                </a:solidFill>
                <a:latin typeface="Consolas"/>
              </a:rPr>
              <a:t>RESILIENCE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950" y="2400300"/>
            <a:ext cx="20383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8A2AC"/>
                </a:solidFill>
                <a:latin typeface="Arial"/>
              </a:rPr>
              <a:t>Automatic recovery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72550" y="1695450"/>
            <a:ext cx="2533650" cy="38100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72550" y="1695450"/>
            <a:ext cx="2533650" cy="38100"/>
          </a:xfrm>
          <a:prstGeom prst="rect">
            <a:avLst/>
          </a:prstGeom>
          <a:solidFill>
            <a:srgbClr val="1B9BD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20200" y="2019300"/>
            <a:ext cx="2038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EF1F4"/>
                </a:solidFill>
                <a:latin typeface="Consolas"/>
              </a:rP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2400300"/>
            <a:ext cx="20383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8A2AC"/>
                </a:solidFill>
                <a:latin typeface="Arial"/>
              </a:rPr>
              <a:t>Remote assistance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10250"/>
            <a:ext cx="10820400" cy="9525"/>
          </a:xfrm>
          <a:prstGeom prst="rect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6019800"/>
            <a:ext cx="914400" cy="523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E98D8-F793-D5DB-AB04-8DA509848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5B5867-60DF-3AAB-80BD-8A1A59DF097C}"/>
              </a:ext>
            </a:extLst>
          </p:cNvPr>
          <p:cNvSpPr txBox="1"/>
          <p:nvPr/>
        </p:nvSpPr>
        <p:spPr>
          <a:xfrm>
            <a:off x="685800" y="419100"/>
            <a:ext cx="66675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1" dirty="0">
                <a:solidFill>
                  <a:srgbClr val="1B9BD8"/>
                </a:solidFill>
                <a:latin typeface="Consolas"/>
              </a:rPr>
              <a:t>DEMO</a:t>
            </a:r>
            <a:endParaRPr sz="1000" b="1" dirty="0">
              <a:solidFill>
                <a:srgbClr val="1B9BD8"/>
              </a:solidFill>
              <a:latin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03AF9-461F-2058-D541-31ECAF875454}"/>
              </a:ext>
            </a:extLst>
          </p:cNvPr>
          <p:cNvSpPr txBox="1"/>
          <p:nvPr/>
        </p:nvSpPr>
        <p:spPr>
          <a:xfrm>
            <a:off x="8572500" y="419100"/>
            <a:ext cx="29337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dirty="0">
                <a:solidFill>
                  <a:srgbClr val="98A2AC"/>
                </a:solidFill>
                <a:latin typeface="Consolas"/>
              </a:rPr>
              <a:t>0</a:t>
            </a:r>
            <a:r>
              <a:rPr lang="en-US" sz="1000" b="0" dirty="0">
                <a:solidFill>
                  <a:srgbClr val="98A2AC"/>
                </a:solidFill>
                <a:latin typeface="Consolas"/>
              </a:rPr>
              <a:t>6</a:t>
            </a:r>
            <a:r>
              <a:rPr sz="1000" b="0" dirty="0">
                <a:solidFill>
                  <a:srgbClr val="98A2AC"/>
                </a:solidFill>
                <a:latin typeface="Consolas"/>
              </a:rPr>
              <a:t> / 0</a:t>
            </a:r>
            <a:r>
              <a:rPr lang="en-US" sz="1000" b="0" dirty="0">
                <a:solidFill>
                  <a:srgbClr val="98A2AC"/>
                </a:solidFill>
                <a:latin typeface="Consolas"/>
              </a:rPr>
              <a:t>6</a:t>
            </a:r>
            <a:endParaRPr sz="1000" b="0" dirty="0">
              <a:solidFill>
                <a:srgbClr val="98A2AC"/>
              </a:solidFill>
              <a:latin typeface="Consola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8AFE7C-6E95-E21F-F91F-21C66CAD4DBC}"/>
              </a:ext>
            </a:extLst>
          </p:cNvPr>
          <p:cNvSpPr/>
          <p:nvPr/>
        </p:nvSpPr>
        <p:spPr>
          <a:xfrm>
            <a:off x="685800" y="5810250"/>
            <a:ext cx="10820400" cy="9525"/>
          </a:xfrm>
          <a:prstGeom prst="rect">
            <a:avLst/>
          </a:prstGeom>
          <a:solidFill>
            <a:srgbClr val="2A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66118518-FD34-B82D-B15C-454B61FE0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6019800"/>
            <a:ext cx="914400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4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160</Words>
  <Application>Microsoft Office PowerPoint</Application>
  <PresentationFormat>Grand écran</PresentationFormat>
  <Paragraphs>51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Abdullahi ATANDA</cp:lastModifiedBy>
  <cp:revision>2</cp:revision>
  <dcterms:created xsi:type="dcterms:W3CDTF">2013-01-27T09:14:16Z</dcterms:created>
  <dcterms:modified xsi:type="dcterms:W3CDTF">2026-08-24T09:04:09Z</dcterms:modified>
  <cp:category/>
</cp:coreProperties>
</file>