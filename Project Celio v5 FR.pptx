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6850"/>
            <a:ext cx="1428750" cy="828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50" y="2552700"/>
            <a:ext cx="5905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0" b="1">
                <a:solidFill>
                  <a:srgbClr val="EEF1F4"/>
                </a:solidFill>
                <a:latin typeface="Arial"/>
              </a:rPr>
              <a:t>IsiDetector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76650"/>
            <a:ext cx="59055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B9BD8"/>
                </a:solidFill>
                <a:latin typeface="Arial"/>
              </a:rPr>
              <a:t>Détection automatisée des colis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1B9BD8"/>
                </a:solidFill>
                <a:latin typeface="Arial"/>
              </a:rPr>
              <a:t>&amp; assistance au 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53000"/>
            <a:ext cx="4762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EF1F4"/>
                </a:solidFill>
                <a:latin typeface="Arial"/>
              </a:rPr>
              <a:t>ATANDA Abdullahi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219700"/>
            <a:ext cx="4762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8A2AC"/>
                </a:solidFill>
                <a:latin typeface="Consolas"/>
              </a:rPr>
              <a:t>VISION PAR ORDINATEUR /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0" y="6267450"/>
            <a:ext cx="2933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8A2AC"/>
                </a:solidFill>
                <a:latin typeface="Consolas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91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B9BD8"/>
                </a:solidFill>
                <a:latin typeface="Consolas"/>
              </a:rPr>
              <a:t>LE DÉFI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500" y="419100"/>
            <a:ext cx="2933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8A2AC"/>
                </a:solidFill>
                <a:latin typeface="Consolas"/>
              </a:rPr>
              <a:t>02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781050"/>
            <a:ext cx="10858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>
                <a:solidFill>
                  <a:srgbClr val="EEF1F4"/>
                </a:solidFill>
                <a:latin typeface="Arial"/>
              </a:rPr>
              <a:t>Quand le code-barres ne peut pas être 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62378"/>
            <a:ext cx="1047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9A825"/>
                </a:solidFill>
                <a:latin typeface="Consolas"/>
              </a:rPr>
              <a:t>~2%</a:t>
            </a:r>
            <a:r>
              <a:rPr sz="1400" b="0">
                <a:solidFill>
                  <a:srgbClr val="98A2AC"/>
                </a:solidFill>
                <a:latin typeface="Arial"/>
              </a:rPr>
              <a:t>   des colis deviennent difficiles à traiter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76728"/>
            <a:ext cx="5181600" cy="33147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ood_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786253"/>
            <a:ext cx="5162550" cy="2667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6300" y="5605653"/>
            <a:ext cx="447675" cy="24765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6300" y="5643753"/>
            <a:ext cx="447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D1013"/>
                </a:solidFill>
                <a:latin typeface="Consolas"/>
              </a:rPr>
              <a:t>BON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7325" y="5624703"/>
            <a:ext cx="41624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EF1F4"/>
                </a:solidFill>
                <a:latin typeface="Arial"/>
              </a:rPr>
              <a:t>Code-barres clairement visible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776728"/>
            <a:ext cx="5191125" cy="33147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ifficult_c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5" y="2786253"/>
            <a:ext cx="5172075" cy="2667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362700" y="5605653"/>
            <a:ext cx="962025" cy="24765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2700" y="5643753"/>
            <a:ext cx="9620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D1013"/>
                </a:solidFill>
                <a:latin typeface="Consolas"/>
              </a:rPr>
              <a:t>DIFFICILE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8075" y="5624703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EF1F4"/>
                </a:solidFill>
                <a:latin typeface="Arial"/>
              </a:rPr>
              <a:t>Plié · abîmé · caché · retourné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91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B9BD8"/>
                </a:solidFill>
                <a:latin typeface="Consolas"/>
              </a:rPr>
              <a:t>LA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500" y="419100"/>
            <a:ext cx="2933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8A2AC"/>
                </a:solidFill>
                <a:latin typeface="Consolas"/>
              </a:rPr>
              <a:t>03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781050"/>
            <a:ext cx="10858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>
                <a:solidFill>
                  <a:srgbClr val="EEF1F4"/>
                </a:solidFill>
                <a:latin typeface="Arial"/>
              </a:rPr>
              <a:t>Une seconde paire d'yeux</a:t>
            </a:r>
          </a:p>
        </p:txBody>
      </p:sp>
      <p:sp>
        <p:nvSpPr>
          <p:cNvPr id="5" name="Rectangle 4"/>
          <p:cNvSpPr/>
          <p:nvPr/>
        </p:nvSpPr>
        <p:spPr>
          <a:xfrm>
            <a:off x="1714500" y="2762250"/>
            <a:ext cx="1905000" cy="6096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14500" y="29718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EF1F4"/>
                </a:solidFill>
                <a:latin typeface="Consolas"/>
              </a:rPr>
              <a:t>CAMÉRA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500" y="348615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98A2AC"/>
                </a:solidFill>
                <a:latin typeface="Arial"/>
              </a:rPr>
              <a:t>votre caméra IP existante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71900" y="2952750"/>
            <a:ext cx="800100" cy="228600"/>
          </a:xfrm>
          <a:prstGeom prst="rightArrow">
            <a:avLst/>
          </a:prstGeom>
          <a:solidFill>
            <a:srgbClr val="3A4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7250" y="2647950"/>
            <a:ext cx="2857500" cy="838200"/>
          </a:xfrm>
          <a:prstGeom prst="rect">
            <a:avLst/>
          </a:prstGeom>
          <a:solidFill>
            <a:srgbClr val="10222D"/>
          </a:solidFill>
          <a:ln w="25400">
            <a:solidFill>
              <a:srgbClr val="1B9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7250" y="28575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B9BD8"/>
                </a:solidFill>
                <a:latin typeface="Consolas"/>
              </a:rPr>
              <a:t>ISIDETECTOR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0" y="3124200"/>
            <a:ext cx="285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EEF1F4"/>
                </a:solidFill>
                <a:latin typeface="Arial"/>
              </a:rPr>
              <a:t>Détecter · Suivre · Compter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20000" y="2952750"/>
            <a:ext cx="800100" cy="228600"/>
          </a:xfrm>
          <a:prstGeom prst="rightArrow">
            <a:avLst/>
          </a:prstGeom>
          <a:solidFill>
            <a:srgbClr val="3A4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34250" y="3276600"/>
            <a:ext cx="1371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98A2AC"/>
                </a:solidFill>
                <a:latin typeface="Consolas"/>
              </a:rPr>
              <a:t>UDP / RELAIS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0" y="2762250"/>
            <a:ext cx="1905000" cy="6096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72500" y="29718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EF1F4"/>
                </a:solidFill>
                <a:latin typeface="Consolas"/>
              </a:rPr>
              <a:t>TRIEUR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348615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98A2AC"/>
                </a:solidFill>
                <a:latin typeface="Arial"/>
              </a:rPr>
              <a:t>votre machine reste maître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962650"/>
            <a:ext cx="10820400" cy="9525"/>
          </a:xfrm>
          <a:prstGeom prst="rect">
            <a:avLst/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6153150"/>
            <a:ext cx="57150" cy="323850"/>
          </a:xfrm>
          <a:prstGeom prst="rect">
            <a:avLst/>
          </a:prstGeom>
          <a:solidFill>
            <a:srgbClr val="1B9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7250" y="6172200"/>
            <a:ext cx="3143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EF1F4"/>
                </a:solidFill>
                <a:latin typeface="Arial"/>
              </a:rPr>
              <a:t>Fonctionne avec votre système existant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91025" y="6153150"/>
            <a:ext cx="57150" cy="323850"/>
          </a:xfrm>
          <a:prstGeom prst="rect">
            <a:avLst/>
          </a:prstGeom>
          <a:solidFill>
            <a:srgbClr val="1B9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62475" y="6172200"/>
            <a:ext cx="3143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EF1F4"/>
                </a:solidFill>
                <a:latin typeface="Arial"/>
              </a:rPr>
              <a:t>Aucune modification de la chaîne code-barres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6250" y="6153150"/>
            <a:ext cx="57150" cy="323850"/>
          </a:xfrm>
          <a:prstGeom prst="rect">
            <a:avLst/>
          </a:prstGeom>
          <a:solidFill>
            <a:srgbClr val="1B9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7700" y="6172200"/>
            <a:ext cx="3143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EF1F4"/>
                </a:solidFill>
                <a:latin typeface="Arial"/>
              </a:rPr>
              <a:t>Un signal clair par colis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91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B9BD8"/>
                </a:solidFill>
                <a:latin typeface="Consolas"/>
              </a:rPr>
              <a:t>LA PREUVE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500" y="419100"/>
            <a:ext cx="2933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8A2AC"/>
                </a:solidFill>
                <a:latin typeface="Consolas"/>
              </a:rPr>
              <a:t>04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781050"/>
            <a:ext cx="10858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>
                <a:solidFill>
                  <a:srgbClr val="EEF1F4"/>
                </a:solidFill>
                <a:latin typeface="Arial"/>
              </a:rPr>
              <a:t>Mesuré. Testé. Prêt pour la démonstration.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81150"/>
            <a:ext cx="5276850" cy="22098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6800" y="2038350"/>
            <a:ext cx="4572000" cy="8572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5700" b="1">
                <a:solidFill>
                  <a:srgbClr val="EEF1F4"/>
                </a:solidFill>
                <a:latin typeface="Consolas"/>
              </a:rPr>
              <a:t>&gt;95</a:t>
            </a:r>
            <a:r>
              <a:rPr sz="5700" b="1">
                <a:solidFill>
                  <a:srgbClr val="1B9BD8"/>
                </a:solidFill>
                <a:latin typeface="Consolas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028950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98A2AC"/>
                </a:solidFill>
                <a:latin typeface="Arial"/>
              </a:rPr>
              <a:t>Identification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9350" y="1581150"/>
            <a:ext cx="5276850" cy="22098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0350" y="2038350"/>
            <a:ext cx="4572000" cy="8572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5700" b="1">
                <a:solidFill>
                  <a:srgbClr val="EEF1F4"/>
                </a:solidFill>
                <a:latin typeface="Consolas"/>
              </a:rPr>
              <a:t>1</a:t>
            </a:r>
            <a:r>
              <a:rPr sz="5700" b="1">
                <a:solidFill>
                  <a:srgbClr val="1B9BD8"/>
                </a:solidFill>
                <a:latin typeface="Consolas"/>
              </a:rPr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3028950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98A2AC"/>
                </a:solidFill>
                <a:latin typeface="Arial"/>
              </a:rPr>
              <a:t>Un colis → un événement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057650"/>
            <a:ext cx="5276850" cy="22098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6800" y="4514850"/>
            <a:ext cx="4572000" cy="8572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5700" b="1">
                <a:solidFill>
                  <a:srgbClr val="EEF1F4"/>
                </a:solidFill>
                <a:latin typeface="Consolas"/>
              </a:rPr>
              <a:t>&lt;15</a:t>
            </a:r>
            <a:r>
              <a:rPr sz="3300" b="1">
                <a:solidFill>
                  <a:srgbClr val="1B9BD8"/>
                </a:solidFill>
                <a:latin typeface="Consolas"/>
              </a:rPr>
              <a:t>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5505450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98A2AC"/>
                </a:solidFill>
                <a:latin typeface="Arial"/>
              </a:rPr>
              <a:t>Latence de déclenchement p95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9350" y="4057650"/>
            <a:ext cx="5276850" cy="22098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0350" y="4514850"/>
            <a:ext cx="4572000" cy="8572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5700" b="1">
                <a:solidFill>
                  <a:srgbClr val="EEF1F4"/>
                </a:solidFill>
                <a:latin typeface="Consolas"/>
              </a:rPr>
              <a:t>N</a:t>
            </a:r>
            <a:r>
              <a:rPr sz="3300" b="1">
                <a:solidFill>
                  <a:srgbClr val="1B9BD8"/>
                </a:solidFill>
                <a:latin typeface="Consolas"/>
              </a:rPr>
              <a:t> jours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350" y="5505450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98A2AC"/>
                </a:solidFill>
                <a:latin typeface="Arial"/>
              </a:rPr>
              <a:t>Fonctionnement continu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91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B9BD8"/>
                </a:solidFill>
                <a:latin typeface="Consolas"/>
              </a:rPr>
              <a:t>CONFIANCE OPÉRATIONNELLE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500" y="419100"/>
            <a:ext cx="2933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8A2AC"/>
                </a:solidFill>
                <a:latin typeface="Consolas"/>
              </a:rPr>
              <a:t>05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781050"/>
            <a:ext cx="10858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>
                <a:solidFill>
                  <a:srgbClr val="EEF1F4"/>
                </a:solidFill>
                <a:latin typeface="Arial"/>
              </a:rPr>
              <a:t>Conçu pour un fonctionnement continu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5450"/>
            <a:ext cx="2533650" cy="38100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5450"/>
            <a:ext cx="2533650" cy="38100"/>
          </a:xfrm>
          <a:prstGeom prst="rect">
            <a:avLst/>
          </a:prstGeom>
          <a:solidFill>
            <a:srgbClr val="1B9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3450" y="2019300"/>
            <a:ext cx="2038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EF1F4"/>
                </a:solidFill>
                <a:latin typeface="Consolas"/>
              </a:rPr>
              <a:t>AUTO-DIAGNOSTIC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2400300"/>
            <a:ext cx="20383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8A2AC"/>
                </a:solidFill>
                <a:latin typeface="Arial"/>
              </a:rPr>
              <a:t>Savoir quand quelque chose ne va pas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8050" y="1695450"/>
            <a:ext cx="2533650" cy="38100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48050" y="1695450"/>
            <a:ext cx="2533650" cy="38100"/>
          </a:xfrm>
          <a:prstGeom prst="rect">
            <a:avLst/>
          </a:prstGeom>
          <a:solidFill>
            <a:srgbClr val="1B9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5700" y="2019300"/>
            <a:ext cx="2038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EF1F4"/>
                </a:solidFill>
                <a:latin typeface="Consolas"/>
              </a:rPr>
              <a:t>TRAÇABILITÉ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5700" y="2400300"/>
            <a:ext cx="20383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8A2AC"/>
                </a:solidFill>
                <a:latin typeface="Arial"/>
              </a:rPr>
              <a:t>Chaque événement est enregistré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300" y="1695450"/>
            <a:ext cx="2533650" cy="38100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0300" y="1695450"/>
            <a:ext cx="2533650" cy="38100"/>
          </a:xfrm>
          <a:prstGeom prst="rect">
            <a:avLst/>
          </a:prstGeom>
          <a:solidFill>
            <a:srgbClr val="1B9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7950" y="2019300"/>
            <a:ext cx="2038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EF1F4"/>
                </a:solidFill>
                <a:latin typeface="Consolas"/>
              </a:rPr>
              <a:t>RÉSILIENCE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950" y="2400300"/>
            <a:ext cx="20383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8A2AC"/>
                </a:solidFill>
                <a:latin typeface="Arial"/>
              </a:rPr>
              <a:t>Reprise automatique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72550" y="1695450"/>
            <a:ext cx="2533650" cy="38100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72550" y="1695450"/>
            <a:ext cx="2533650" cy="38100"/>
          </a:xfrm>
          <a:prstGeom prst="rect">
            <a:avLst/>
          </a:prstGeom>
          <a:solidFill>
            <a:srgbClr val="1B9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20200" y="2019300"/>
            <a:ext cx="2038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EF1F4"/>
                </a:solidFill>
                <a:latin typeface="Consolas"/>
              </a:rP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200" y="2400300"/>
            <a:ext cx="20383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8A2AC"/>
                </a:solidFill>
                <a:latin typeface="Arial"/>
              </a:rPr>
              <a:t>Assistance à distance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10250"/>
            <a:ext cx="10820400" cy="9525"/>
          </a:xfrm>
          <a:prstGeom prst="rect">
            <a:avLst/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6019800"/>
            <a:ext cx="914400" cy="523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4EDCA-6A72-C7DC-3314-848C118C8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995C23-9AD1-EBB5-428F-70B4278FD2D6}"/>
              </a:ext>
            </a:extLst>
          </p:cNvPr>
          <p:cNvSpPr txBox="1"/>
          <p:nvPr/>
        </p:nvSpPr>
        <p:spPr>
          <a:xfrm>
            <a:off x="685800" y="419100"/>
            <a:ext cx="66675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1" dirty="0">
                <a:solidFill>
                  <a:srgbClr val="1B9BD8"/>
                </a:solidFill>
                <a:latin typeface="Consolas"/>
              </a:rPr>
              <a:t>Demo</a:t>
            </a:r>
            <a:endParaRPr sz="1000" b="1" dirty="0">
              <a:solidFill>
                <a:srgbClr val="1B9BD8"/>
              </a:solidFill>
              <a:latin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429F7-1909-4505-8E0D-1E3610086AB0}"/>
              </a:ext>
            </a:extLst>
          </p:cNvPr>
          <p:cNvSpPr txBox="1"/>
          <p:nvPr/>
        </p:nvSpPr>
        <p:spPr>
          <a:xfrm>
            <a:off x="8572500" y="419100"/>
            <a:ext cx="2933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8A2AC"/>
                </a:solidFill>
                <a:latin typeface="Consolas"/>
              </a:rPr>
              <a:t>05 / 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793164-DE08-D085-7E41-2C80F9DE3F87}"/>
              </a:ext>
            </a:extLst>
          </p:cNvPr>
          <p:cNvSpPr/>
          <p:nvPr/>
        </p:nvSpPr>
        <p:spPr>
          <a:xfrm>
            <a:off x="685800" y="5810250"/>
            <a:ext cx="10820400" cy="9525"/>
          </a:xfrm>
          <a:prstGeom prst="rect">
            <a:avLst/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947CAD4D-5F6A-4272-8081-24B68E5EF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6019800"/>
            <a:ext cx="914400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89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167</Words>
  <Application>Microsoft Office PowerPoint</Application>
  <PresentationFormat>Grand écran</PresentationFormat>
  <Paragraphs>51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Abdullahi ATANDA</cp:lastModifiedBy>
  <cp:revision>2</cp:revision>
  <dcterms:created xsi:type="dcterms:W3CDTF">2013-01-27T09:14:16Z</dcterms:created>
  <dcterms:modified xsi:type="dcterms:W3CDTF">2026-08-24T14:31:22Z</dcterms:modified>
  <cp:category/>
</cp:coreProperties>
</file>